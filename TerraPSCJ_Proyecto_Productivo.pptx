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a139534-6e32-be7b-ee3c-017d3d817167}">
          <p14:sldIdLst>
            <p14:sldId id="256"/>
          </p14:sldIdLst>
        </p14:section>
        <p14:section name="Equipo y problema" id="{1b5d8534-2c50-73aa-0bfb-3634bd5ac2f6}">
          <p14:sldIdLst>
            <p14:sldId id="257"/>
            <p14:sldId id="258"/>
          </p14:sldIdLst>
        </p14:section>
        <p14:section name="Propuesta y mercado" id="{40f817cc-f531-c193-1b69-84b113d40fe6}">
          <p14:sldIdLst>
            <p14:sldId id="259"/>
            <p14:sldId id="260"/>
            <p14:sldId id="261"/>
          </p14:sldIdLst>
        </p14:section>
        <p14:section name="Modelo y diseño" id="{6ee7e381-32a8-4a96-0f9b-362ae7e6a240}">
          <p14:sldIdLst>
            <p14:sldId id="262"/>
            <p14:sldId id="263"/>
            <p14:sldId id="264"/>
            <p14:sldId id="265"/>
          </p14:sldIdLst>
        </p14:section>
        <p14:section name="Resultados" id="{fe096a5f-c408-1db3-5644-43654d7385a0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" y="91440"/>
            <a:ext cx="621792" cy="603504"/>
          </a:xfrm>
          <a:prstGeom prst="rect">
            <a:avLst/>
          </a:prstGeom>
        </p:spPr>
      </p:pic>
      <p:pic>
        <p:nvPicPr>
          <p:cNvPr id="3" name="Image 1" descr="/home/claude/assets/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91440"/>
            <a:ext cx="484632" cy="822960"/>
          </a:xfrm>
          <a:prstGeom prst="rect">
            <a:avLst/>
          </a:prstGeom>
        </p:spPr>
      </p:pic>
      <p:pic>
        <p:nvPicPr>
          <p:cNvPr id="4" name="Image 2" descr="/home/claude/assets/foo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2816"/>
            <a:ext cx="9144000" cy="9006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s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" y="91440"/>
            <a:ext cx="621792" cy="603504"/>
          </a:xfrm>
          <a:prstGeom prst="rect">
            <a:avLst/>
          </a:prstGeom>
        </p:spPr>
      </p:pic>
      <p:pic>
        <p:nvPicPr>
          <p:cNvPr id="3" name="Image 1" descr="/home/claude/assets/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91440"/>
            <a:ext cx="484632" cy="822960"/>
          </a:xfrm>
          <a:prstGeom prst="rect">
            <a:avLst/>
          </a:prstGeom>
        </p:spPr>
      </p:pic>
      <p:pic>
        <p:nvPicPr>
          <p:cNvPr id="4" name="Image 2" descr="/home/claude/assets/foo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42816"/>
            <a:ext cx="9144000" cy="900684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50292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PRODUCTIVO</a:t>
            </a:r>
            <a:endParaRPr lang="en-US" sz="2000" dirty="0"/>
          </a:p>
        </p:txBody>
      </p:sp>
      <p:sp>
        <p:nvSpPr>
          <p:cNvPr id="3" name="Título portada"/>
          <p:cNvSpPr txBox="1"/>
          <p:nvPr/>
        </p:nvSpPr>
        <p:spPr>
          <a:xfrm>
            <a:off x="502920" y="14813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 PSCJ</a:t>
            </a:r>
            <a:endParaRPr lang="en-US" sz="4800" dirty="0"/>
          </a:p>
        </p:txBody>
      </p:sp>
      <p:sp>
        <p:nvSpPr>
          <p:cNvPr id="4" name="Eslogan"/>
          <p:cNvSpPr txBox="1"/>
          <p:nvPr/>
        </p:nvSpPr>
        <p:spPr>
          <a:xfrm>
            <a:off x="502920" y="22402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Ingeniería que construye sueños</a:t>
            </a:r>
            <a:endParaRPr lang="en-US" sz="1600" dirty="0"/>
          </a:p>
        </p:txBody>
      </p:sp>
      <p:sp>
        <p:nvSpPr>
          <p:cNvPr id="5" name="Subtítulo"/>
          <p:cNvSpPr txBox="1"/>
          <p:nvPr/>
        </p:nvSpPr>
        <p:spPr>
          <a:xfrm>
            <a:off x="50292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Página web para el emprendimiento</a:t>
            </a:r>
            <a:endParaRPr lang="en-US" sz="1800" dirty="0"/>
          </a:p>
        </p:txBody>
      </p:sp>
      <p:sp>
        <p:nvSpPr>
          <p:cNvPr id="6" name="Datos del programa"/>
          <p:cNvSpPr txBox="1"/>
          <p:nvPr/>
        </p:nvSpPr>
        <p:spPr>
          <a:xfrm>
            <a:off x="502920" y="31089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Técnico en Integración de Contenidos Digitales · Ficha 3220368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Aprendices: Luis Miguel Calderón Giraldo, Santiago Vásquez Cárdenas, Juan Felipe Martínez y Fabio Jerónimo Ocampo Martínez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Instructora: Sandra Inés Alzate Agudelo</a:t>
            </a:r>
            <a:endParaRPr lang="en-US" sz="1200" dirty="0"/>
          </a:p>
        </p:txBody>
      </p:sp>
      <p:sp>
        <p:nvSpPr>
          <p:cNvPr id="7" name="Fecha"/>
          <p:cNvSpPr txBox="1"/>
          <p:nvPr/>
        </p:nvSpPr>
        <p:spPr>
          <a:xfrm>
            <a:off x="50292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Octubre 2026</a:t>
            </a:r>
            <a:endParaRPr lang="en-US" sz="1200" dirty="0"/>
          </a:p>
        </p:txBody>
      </p:sp>
      <p:pic>
        <p:nvPicPr>
          <p:cNvPr id="8" name="Logo Terra PSCJ" descr="Logo de Terra PSCJ: T azul con hoja ver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554480"/>
            <a:ext cx="3017520" cy="1472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Quiénes somos</a:t>
            </a:r>
            <a:endParaRPr lang="en-US" sz="2600" dirty="0"/>
          </a:p>
        </p:txBody>
      </p:sp>
      <p:sp>
        <p:nvSpPr>
          <p:cNvPr id="3" name="Tarjeta equipo 1"/>
          <p:cNvSpPr/>
          <p:nvPr/>
        </p:nvSpPr>
        <p:spPr>
          <a:xfrm>
            <a:off x="457200" y="105156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Foto Santiago Vásquez" descr="Foto de Santiago Vásque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1097280" cy="1097280"/>
          </a:xfrm>
          <a:prstGeom prst="ellipse">
            <a:avLst/>
          </a:prstGeom>
        </p:spPr>
      </p:pic>
      <p:sp>
        <p:nvSpPr>
          <p:cNvPr id="5" name="Nombre 1"/>
          <p:cNvSpPr txBox="1"/>
          <p:nvPr/>
        </p:nvSpPr>
        <p:spPr>
          <a:xfrm>
            <a:off x="5486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Santiago Vásquez</a:t>
            </a:r>
            <a:endParaRPr lang="en-US" sz="1400" dirty="0"/>
          </a:p>
        </p:txBody>
      </p:sp>
      <p:sp>
        <p:nvSpPr>
          <p:cNvPr id="6" name="Cargo 1"/>
          <p:cNvSpPr txBox="1"/>
          <p:nvPr/>
        </p:nvSpPr>
        <p:spPr>
          <a:xfrm>
            <a:off x="54864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Gerente General</a:t>
            </a:r>
            <a:endParaRPr lang="en-US" sz="1200" dirty="0"/>
          </a:p>
        </p:txBody>
      </p:sp>
      <p:sp>
        <p:nvSpPr>
          <p:cNvPr id="7" name="Descripción 1"/>
          <p:cNvSpPr txBox="1"/>
          <p:nvPr/>
        </p:nvSpPr>
        <p:spPr>
          <a:xfrm>
            <a:off x="594360" y="3355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Líder estratégico: coordina proyectos inmobiliarios y toma decisiones importantes.</a:t>
            </a:r>
            <a:endParaRPr lang="en-US" sz="1200" dirty="0"/>
          </a:p>
        </p:txBody>
      </p:sp>
      <p:sp>
        <p:nvSpPr>
          <p:cNvPr id="8" name="Tarjeta equipo 2"/>
          <p:cNvSpPr/>
          <p:nvPr/>
        </p:nvSpPr>
        <p:spPr>
          <a:xfrm>
            <a:off x="2542032" y="105156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9" name="Foto Juan Felipe Gómez" descr="Foto de Juan Felipe Góme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512" y="1234440"/>
            <a:ext cx="1097280" cy="1097280"/>
          </a:xfrm>
          <a:prstGeom prst="ellipse">
            <a:avLst/>
          </a:prstGeom>
        </p:spPr>
      </p:pic>
      <p:sp>
        <p:nvSpPr>
          <p:cNvPr id="10" name="Nombre 2"/>
          <p:cNvSpPr txBox="1"/>
          <p:nvPr/>
        </p:nvSpPr>
        <p:spPr>
          <a:xfrm>
            <a:off x="2633472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Juan Felipe Gómez</a:t>
            </a:r>
            <a:endParaRPr lang="en-US" sz="1400" dirty="0"/>
          </a:p>
        </p:txBody>
      </p:sp>
      <p:sp>
        <p:nvSpPr>
          <p:cNvPr id="11" name="Cargo 2"/>
          <p:cNvSpPr txBox="1"/>
          <p:nvPr/>
        </p:nvSpPr>
        <p:spPr>
          <a:xfrm>
            <a:off x="2633472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Director Administrativo y Comercial</a:t>
            </a:r>
            <a:endParaRPr lang="en-US" sz="1200" dirty="0"/>
          </a:p>
        </p:txBody>
      </p:sp>
      <p:sp>
        <p:nvSpPr>
          <p:cNvPr id="12" name="Descripción 2"/>
          <p:cNvSpPr txBox="1"/>
          <p:nvPr/>
        </p:nvSpPr>
        <p:spPr>
          <a:xfrm>
            <a:off x="2679192" y="3355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Atención a clientes, supervisión de ventas y organización administrativa.</a:t>
            </a:r>
            <a:endParaRPr lang="en-US" sz="1200" dirty="0"/>
          </a:p>
        </p:txBody>
      </p:sp>
      <p:sp>
        <p:nvSpPr>
          <p:cNvPr id="13" name="Tarjeta equipo 3"/>
          <p:cNvSpPr/>
          <p:nvPr/>
        </p:nvSpPr>
        <p:spPr>
          <a:xfrm>
            <a:off x="4626864" y="105156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4" name="Foto Luis Miguel Calderón" descr="Foto de Luis Miguel Calder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344" y="1234440"/>
            <a:ext cx="1097280" cy="1097280"/>
          </a:xfrm>
          <a:prstGeom prst="ellipse">
            <a:avLst/>
          </a:prstGeom>
        </p:spPr>
      </p:pic>
      <p:sp>
        <p:nvSpPr>
          <p:cNvPr id="15" name="Nombre 3"/>
          <p:cNvSpPr txBox="1"/>
          <p:nvPr/>
        </p:nvSpPr>
        <p:spPr>
          <a:xfrm>
            <a:off x="4718304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Luis Miguel Calderón</a:t>
            </a:r>
            <a:endParaRPr lang="en-US" sz="1400" dirty="0"/>
          </a:p>
        </p:txBody>
      </p:sp>
      <p:sp>
        <p:nvSpPr>
          <p:cNvPr id="16" name="Cargo 3"/>
          <p:cNvSpPr txBox="1"/>
          <p:nvPr/>
        </p:nvSpPr>
        <p:spPr>
          <a:xfrm>
            <a:off x="4718304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Ventas y Distribución</a:t>
            </a:r>
            <a:endParaRPr lang="en-US" sz="1200" dirty="0"/>
          </a:p>
        </p:txBody>
      </p:sp>
      <p:sp>
        <p:nvSpPr>
          <p:cNvPr id="17" name="Descripción 3"/>
          <p:cNvSpPr txBox="1"/>
          <p:nvPr/>
        </p:nvSpPr>
        <p:spPr>
          <a:xfrm>
            <a:off x="4764024" y="3355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Asesor comercial: promueve propiedades y atiende a los clientes.</a:t>
            </a:r>
            <a:endParaRPr lang="en-US" sz="1200" dirty="0"/>
          </a:p>
        </p:txBody>
      </p:sp>
      <p:sp>
        <p:nvSpPr>
          <p:cNvPr id="18" name="Tarjeta equipo 4"/>
          <p:cNvSpPr/>
          <p:nvPr/>
        </p:nvSpPr>
        <p:spPr>
          <a:xfrm>
            <a:off x="6711696" y="1051560"/>
            <a:ext cx="1920240" cy="320040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9" name="Foto Fabio Jerónimo Ocampo" descr="Foto de Fabio Jerónimo Ocamp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1234440"/>
            <a:ext cx="1097280" cy="1097280"/>
          </a:xfrm>
          <a:prstGeom prst="ellipse">
            <a:avLst/>
          </a:prstGeom>
        </p:spPr>
      </p:pic>
      <p:sp>
        <p:nvSpPr>
          <p:cNvPr id="20" name="Nombre 4"/>
          <p:cNvSpPr txBox="1"/>
          <p:nvPr/>
        </p:nvSpPr>
        <p:spPr>
          <a:xfrm>
            <a:off x="6803136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Fabio Jerónimo Ocampo</a:t>
            </a:r>
            <a:endParaRPr lang="en-US" sz="1400" dirty="0"/>
          </a:p>
        </p:txBody>
      </p:sp>
      <p:sp>
        <p:nvSpPr>
          <p:cNvPr id="21" name="Cargo 4"/>
          <p:cNvSpPr txBox="1"/>
          <p:nvPr/>
        </p:nvSpPr>
        <p:spPr>
          <a:xfrm>
            <a:off x="6803136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Administrador y Socio</a:t>
            </a:r>
            <a:endParaRPr lang="en-US" sz="1200" dirty="0"/>
          </a:p>
        </p:txBody>
      </p:sp>
      <p:sp>
        <p:nvSpPr>
          <p:cNvPr id="22" name="Descripción 4"/>
          <p:cNvSpPr txBox="1"/>
          <p:nvPr/>
        </p:nvSpPr>
        <p:spPr>
          <a:xfrm>
            <a:off x="6848856" y="3355848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Supervisa la organización interna y coordina procesos administrativos.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problema encontramos?</a:t>
            </a:r>
            <a:endParaRPr lang="en-US" sz="2600" dirty="0"/>
          </a:p>
        </p:txBody>
      </p:sp>
      <p:sp>
        <p:nvSpPr>
          <p:cNvPr id="3" name="Problema central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" name="Problema central texto"/>
          <p:cNvSpPr txBox="1"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TERRA PSCJ vende casas, lotes y fincas en Rionegro y asesora en construcción, pero sus clientes no tienen una página web clara donde ver las propiedades y los servicios.</a:t>
            </a:r>
            <a:endParaRPr lang="en-US" sz="1400" dirty="0"/>
          </a:p>
        </p:txBody>
      </p:sp>
      <p:sp>
        <p:nvSpPr>
          <p:cNvPr id="5" name="Tarjeta ¿A quién afecta?"/>
          <p:cNvSpPr/>
          <p:nvPr/>
        </p:nvSpPr>
        <p:spPr>
          <a:xfrm>
            <a:off x="457200" y="2057400"/>
            <a:ext cx="25603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ítulo ¿A quién afecta?"/>
          <p:cNvSpPr txBox="1"/>
          <p:nvPr/>
        </p:nvSpPr>
        <p:spPr>
          <a:xfrm>
            <a:off x="640080" y="21671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afecta?</a:t>
            </a:r>
            <a:endParaRPr lang="en-US" sz="1600" dirty="0"/>
          </a:p>
        </p:txBody>
      </p:sp>
      <p:sp>
        <p:nvSpPr>
          <p:cNvPr id="7" name="Texto ¿A quién afecta?"/>
          <p:cNvSpPr txBox="1"/>
          <p:nvPr/>
        </p:nvSpPr>
        <p:spPr>
          <a:xfrm>
            <a:off x="64008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Personas de 25 a 60 años, estratos 3 a 6 del Oriente antioqueño, que quieren comprar una propiedad o construir; y al negocio que quiere darse a conocer.</a:t>
            </a:r>
            <a:endParaRPr lang="en-US" sz="1400" dirty="0"/>
          </a:p>
        </p:txBody>
      </p:sp>
      <p:sp>
        <p:nvSpPr>
          <p:cNvPr id="8" name="Tarjeta ¿Cómo se resuelve hoy?"/>
          <p:cNvSpPr/>
          <p:nvPr/>
        </p:nvSpPr>
        <p:spPr>
          <a:xfrm>
            <a:off x="3291840" y="2057400"/>
            <a:ext cx="25603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ítulo ¿Cómo se resuelve hoy?"/>
          <p:cNvSpPr txBox="1"/>
          <p:nvPr/>
        </p:nvSpPr>
        <p:spPr>
          <a:xfrm>
            <a:off x="3474720" y="21671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resuelve hoy?</a:t>
            </a:r>
            <a:endParaRPr lang="en-US" sz="1600" dirty="0"/>
          </a:p>
        </p:txBody>
      </p:sp>
      <p:sp>
        <p:nvSpPr>
          <p:cNvPr id="10" name="Texto ¿Cómo se resuelve hoy?"/>
          <p:cNvSpPr txBox="1"/>
          <p:nvPr/>
        </p:nvSpPr>
        <p:spPr>
          <a:xfrm>
            <a:off x="347472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Por voz a voz, redes sociales y WhatsApp, sin un portafolio único y sin poder ver la construcción antes de comprar.</a:t>
            </a:r>
            <a:endParaRPr lang="en-US" sz="1400" dirty="0"/>
          </a:p>
        </p:txBody>
      </p:sp>
      <p:sp>
        <p:nvSpPr>
          <p:cNvPr id="11" name="Tarjeta ¿Por qué importa?"/>
          <p:cNvSpPr/>
          <p:nvPr/>
        </p:nvSpPr>
        <p:spPr>
          <a:xfrm>
            <a:off x="6126480" y="2057400"/>
            <a:ext cx="256032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ítulo ¿Por qué importa?"/>
          <p:cNvSpPr txBox="1"/>
          <p:nvPr/>
        </p:nvSpPr>
        <p:spPr>
          <a:xfrm>
            <a:off x="6309360" y="21671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13" name="Texto ¿Por qué importa?"/>
          <p:cNvSpPr txBox="1"/>
          <p:nvPr/>
        </p:nvSpPr>
        <p:spPr>
          <a:xfrm>
            <a:off x="6309360" y="27432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Comprar tierra es una decisión grande: se pierden clientes y ventas por falta de visibilidad e información clara.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propuesta de valor</a:t>
            </a:r>
            <a:endParaRPr lang="en-US" sz="2600" dirty="0"/>
          </a:p>
        </p:txBody>
      </p:sp>
      <p:sp>
        <p:nvSpPr>
          <p:cNvPr id="3" name="Panel frase"/>
          <p:cNvSpPr/>
          <p:nvPr/>
        </p:nvSpPr>
        <p:spPr>
          <a:xfrm>
            <a:off x="457200" y="1051560"/>
            <a:ext cx="3931920" cy="3108960"/>
          </a:xfrm>
          <a:prstGeom prst="roundRect">
            <a:avLst>
              <a:gd name="adj" fmla="val 441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Etiqueta frase"/>
          <p:cNvSpPr txBox="1"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EN UNA FRASE</a:t>
            </a:r>
            <a:endParaRPr lang="en-US" sz="1200" dirty="0"/>
          </a:p>
        </p:txBody>
      </p:sp>
      <p:sp>
        <p:nvSpPr>
          <p:cNvPr id="5" name="Frase de valor"/>
          <p:cNvSpPr txBox="1"/>
          <p:nvPr/>
        </p:nvSpPr>
        <p:spPr>
          <a:xfrm>
            <a:off x="685800" y="164592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TERRA PSCJ es una página web que ayuda a quienes quieren comprar casas, lotes o fincas en el Oriente antioqueño a conocer las propiedades, recibir asesoría y ver su proyecto en 3D antes de comprar.</a:t>
            </a:r>
            <a:endParaRPr lang="en-US" sz="1800" dirty="0"/>
          </a:p>
        </p:txBody>
      </p:sp>
      <p:sp>
        <p:nvSpPr>
          <p:cNvPr id="6" name="Subtítulo funciones"/>
          <p:cNvSpPr txBox="1"/>
          <p:nvPr/>
        </p:nvSpPr>
        <p:spPr>
          <a:xfrm>
            <a:off x="475488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principales</a:t>
            </a:r>
            <a:endParaRPr lang="en-US" sz="1800" dirty="0"/>
          </a:p>
        </p:txBody>
      </p:sp>
      <p:sp>
        <p:nvSpPr>
          <p:cNvPr id="7" name="Check 1"/>
          <p:cNvSpPr/>
          <p:nvPr/>
        </p:nvSpPr>
        <p:spPr>
          <a:xfrm>
            <a:off x="4754880" y="1536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Marca 1"/>
          <p:cNvSpPr txBox="1"/>
          <p:nvPr/>
        </p:nvSpPr>
        <p:spPr>
          <a:xfrm>
            <a:off x="475488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Función 1"/>
          <p:cNvSpPr txBox="1"/>
          <p:nvPr/>
        </p:nvSpPr>
        <p:spPr>
          <a:xfrm>
            <a:off x="5257800" y="153619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Portafolio de propiedades actualizable desde Excel</a:t>
            </a:r>
            <a:endParaRPr lang="en-US" sz="1400" dirty="0"/>
          </a:p>
        </p:txBody>
      </p:sp>
      <p:sp>
        <p:nvSpPr>
          <p:cNvPr id="10" name="Check 2"/>
          <p:cNvSpPr/>
          <p:nvPr/>
        </p:nvSpPr>
        <p:spPr>
          <a:xfrm>
            <a:off x="4754880" y="21031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Marca 2"/>
          <p:cNvSpPr txBox="1"/>
          <p:nvPr/>
        </p:nvSpPr>
        <p:spPr>
          <a:xfrm>
            <a:off x="475488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Función 2"/>
          <p:cNvSpPr txBox="1"/>
          <p:nvPr/>
        </p:nvSpPr>
        <p:spPr>
          <a:xfrm>
            <a:off x="5257800" y="21031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Asesoría en construcción y creación de proyectos</a:t>
            </a:r>
            <a:endParaRPr lang="en-US" sz="1400" dirty="0"/>
          </a:p>
        </p:txBody>
      </p:sp>
      <p:sp>
        <p:nvSpPr>
          <p:cNvPr id="13" name="Check 3"/>
          <p:cNvSpPr/>
          <p:nvPr/>
        </p:nvSpPr>
        <p:spPr>
          <a:xfrm>
            <a:off x="4754880" y="26700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Marca 3"/>
          <p:cNvSpPr txBox="1"/>
          <p:nvPr/>
        </p:nvSpPr>
        <p:spPr>
          <a:xfrm>
            <a:off x="47548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Función 3"/>
          <p:cNvSpPr txBox="1"/>
          <p:nvPr/>
        </p:nvSpPr>
        <p:spPr>
          <a:xfrm>
            <a:off x="5257800" y="26700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Diseño responsivo: celular, tableta y computador</a:t>
            </a:r>
            <a:endParaRPr lang="en-US" sz="1400" dirty="0"/>
          </a:p>
        </p:txBody>
      </p:sp>
      <p:sp>
        <p:nvSpPr>
          <p:cNvPr id="16" name="Diferenciador"/>
          <p:cNvSpPr/>
          <p:nvPr/>
        </p:nvSpPr>
        <p:spPr>
          <a:xfrm>
            <a:off x="4754880" y="3337560"/>
            <a:ext cx="3931920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7" name="Diferenciador texto"/>
          <p:cNvSpPr txBox="1"/>
          <p:nvPr/>
        </p:nvSpPr>
        <p:spPr>
          <a:xfrm>
            <a:off x="4937760" y="33375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Diferenciador: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modelado 3D para ver la futura construcción antes de comprar.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quién es?</a:t>
            </a:r>
            <a:endParaRPr lang="en-US" sz="2600" dirty="0"/>
          </a:p>
        </p:txBody>
      </p:sp>
      <p:sp>
        <p:nvSpPr>
          <p:cNvPr id="3" name="Tarjeta Perfil del usuario"/>
          <p:cNvSpPr/>
          <p:nvPr/>
        </p:nvSpPr>
        <p:spPr>
          <a:xfrm>
            <a:off x="457200" y="1051560"/>
            <a:ext cx="256032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ítulo Perfil del usuario"/>
          <p:cNvSpPr txBox="1"/>
          <p:nvPr/>
        </p:nvSpPr>
        <p:spPr>
          <a:xfrm>
            <a:off x="640080" y="1161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 del usuario</a:t>
            </a:r>
            <a:endParaRPr lang="en-US" sz="1600" dirty="0"/>
          </a:p>
        </p:txBody>
      </p:sp>
      <p:sp>
        <p:nvSpPr>
          <p:cNvPr id="5" name="Texto Perfil del usuario"/>
          <p:cNvSpPr txBox="1"/>
          <p:nvPr/>
        </p:nvSpPr>
        <p:spPr>
          <a:xfrm>
            <a:off x="64008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Personas de 25 a 60 años, estratos 3 a 6, del Oriente antioqueño, que quieren comprar un lote, casa o finca, o construir su proyecto.</a:t>
            </a:r>
            <a:endParaRPr lang="en-US" sz="1400" dirty="0"/>
          </a:p>
        </p:txBody>
      </p:sp>
      <p:sp>
        <p:nvSpPr>
          <p:cNvPr id="6" name="Tarjeta Sus necesidades"/>
          <p:cNvSpPr/>
          <p:nvPr/>
        </p:nvSpPr>
        <p:spPr>
          <a:xfrm>
            <a:off x="3291840" y="1051560"/>
            <a:ext cx="256032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ítulo Sus necesidades"/>
          <p:cNvSpPr txBox="1"/>
          <p:nvPr/>
        </p:nvSpPr>
        <p:spPr>
          <a:xfrm>
            <a:off x="3474720" y="1161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necesidades</a:t>
            </a:r>
            <a:endParaRPr lang="en-US" sz="1600" dirty="0"/>
          </a:p>
        </p:txBody>
      </p:sp>
      <p:sp>
        <p:nvSpPr>
          <p:cNvPr id="8" name="Texto Sus necesidades"/>
          <p:cNvSpPr txBox="1"/>
          <p:nvPr/>
        </p:nvSpPr>
        <p:spPr>
          <a:xfrm>
            <a:off x="347472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 qué propiedades hay, entender qué pueden construir y contactar rápido. Les frustra la información poco clara.</a:t>
            </a:r>
            <a:endParaRPr lang="en-US" sz="1400" dirty="0"/>
          </a:p>
        </p:txBody>
      </p:sp>
      <p:sp>
        <p:nvSpPr>
          <p:cNvPr id="9" name="Tarjeta Cómo llegamos a él"/>
          <p:cNvSpPr/>
          <p:nvPr/>
        </p:nvSpPr>
        <p:spPr>
          <a:xfrm>
            <a:off x="6126480" y="1051560"/>
            <a:ext cx="256032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ítulo Cómo llegamos a él"/>
          <p:cNvSpPr txBox="1"/>
          <p:nvPr/>
        </p:nvSpPr>
        <p:spPr>
          <a:xfrm>
            <a:off x="6309360" y="1161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llegamos a él</a:t>
            </a:r>
            <a:endParaRPr lang="en-US" sz="1600" dirty="0"/>
          </a:p>
        </p:txBody>
      </p:sp>
      <p:sp>
        <p:nvSpPr>
          <p:cNvPr id="11" name="Texto Cómo llegamos a él"/>
          <p:cNvSpPr txBox="1"/>
          <p:nvPr/>
        </p:nvSpPr>
        <p:spPr>
          <a:xfrm>
            <a:off x="630936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Redes sociales, WhatsApp, voz a voz y código QR.</a:t>
            </a:r>
            <a:endParaRPr lang="en-US" sz="1400" dirty="0"/>
          </a:p>
        </p:txBody>
      </p:sp>
      <p:sp>
        <p:nvSpPr>
          <p:cNvPr id="12" name="Mercado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Mercado texto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Tamaño del mercado: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personas con ese perfil en Rionegro y el Oriente antioqueño.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existe hoy y en qué nos diferenciamos?</a:t>
            </a:r>
            <a:endParaRPr lang="en-US" sz="2600" dirty="0"/>
          </a:p>
        </p:txBody>
      </p:sp>
      <p:graphicFrame>
        <p:nvGraphicFramePr>
          <p:cNvPr id="7" name="Tabla comparativ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11680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 PSCJ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y WhatsApp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Otras inmobiliarias de la zona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 gratuito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Varía según la inmobiliaria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 de 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en celular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Pensado para la región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Propiedades, asesoría y 3D en un solo sitio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portafolio ordenado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visualización 3D antes de comprar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sostiene el proyecto?</a:t>
            </a:r>
            <a:endParaRPr lang="en-US" sz="2600" dirty="0"/>
          </a:p>
        </p:txBody>
      </p:sp>
      <p:sp>
        <p:nvSpPr>
          <p:cNvPr id="3" name="Tarjeta Fuentes de ingreso"/>
          <p:cNvSpPr/>
          <p:nvPr/>
        </p:nvSpPr>
        <p:spPr>
          <a:xfrm>
            <a:off x="457200" y="9601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ítulo Fuentes de ingreso"/>
          <p:cNvSpPr txBox="1"/>
          <p:nvPr/>
        </p:nvSpPr>
        <p:spPr>
          <a:xfrm>
            <a:off x="640080" y="1069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de ingreso</a:t>
            </a:r>
            <a:endParaRPr lang="en-US" sz="1600" dirty="0"/>
          </a:p>
        </p:txBody>
      </p:sp>
      <p:sp>
        <p:nvSpPr>
          <p:cNvPr id="5" name="Texto Fuentes de ingreso"/>
          <p:cNvSpPr txBox="1"/>
          <p:nvPr/>
        </p:nvSpPr>
        <p:spPr>
          <a:xfrm>
            <a:off x="640080" y="1645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Venta de propiedades y asesoría en construcción y diseño de proyectos.</a:t>
            </a:r>
            <a:endParaRPr lang="en-US" sz="1400" dirty="0"/>
          </a:p>
        </p:txBody>
      </p:sp>
      <p:sp>
        <p:nvSpPr>
          <p:cNvPr id="6" name="Tarjeta Costos principales"/>
          <p:cNvSpPr/>
          <p:nvPr/>
        </p:nvSpPr>
        <p:spPr>
          <a:xfrm>
            <a:off x="3291840" y="9601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ítulo Costos principales"/>
          <p:cNvSpPr txBox="1"/>
          <p:nvPr/>
        </p:nvSpPr>
        <p:spPr>
          <a:xfrm>
            <a:off x="3474720" y="1069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Costos principales</a:t>
            </a:r>
            <a:endParaRPr lang="en-US" sz="1600" dirty="0"/>
          </a:p>
        </p:txBody>
      </p:sp>
      <p:sp>
        <p:nvSpPr>
          <p:cNvPr id="8" name="Texto Costos principales"/>
          <p:cNvSpPr txBox="1"/>
          <p:nvPr/>
        </p:nvSpPr>
        <p:spPr>
          <a:xfrm>
            <a:off x="3474720" y="1645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Dominio, hosting (Vercel), publicidad, software 3D y tiempo del equipo.</a:t>
            </a:r>
            <a:endParaRPr lang="en-US" sz="1400" dirty="0"/>
          </a:p>
        </p:txBody>
      </p:sp>
      <p:sp>
        <p:nvSpPr>
          <p:cNvPr id="9" name="Tarjeta Canales"/>
          <p:cNvSpPr/>
          <p:nvPr/>
        </p:nvSpPr>
        <p:spPr>
          <a:xfrm>
            <a:off x="6126480" y="96012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ítulo Canales"/>
          <p:cNvSpPr txBox="1"/>
          <p:nvPr/>
        </p:nvSpPr>
        <p:spPr>
          <a:xfrm>
            <a:off x="6309360" y="10698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</a:t>
            </a:r>
            <a:endParaRPr lang="en-US" sz="1600" dirty="0"/>
          </a:p>
        </p:txBody>
      </p:sp>
      <p:sp>
        <p:nvSpPr>
          <p:cNvPr id="11" name="Texto Canales"/>
          <p:cNvSpPr txBox="1"/>
          <p:nvPr/>
        </p:nvSpPr>
        <p:spPr>
          <a:xfrm>
            <a:off x="6309360" y="1645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Página web, enlaces en redes sociales, WhatsApp y código QR.</a:t>
            </a:r>
            <a:endParaRPr lang="en-US" sz="1400" dirty="0"/>
          </a:p>
        </p:txBody>
      </p:sp>
      <p:sp>
        <p:nvSpPr>
          <p:cNvPr id="12" name="Tarjeta Aliados clave"/>
          <p:cNvSpPr/>
          <p:nvPr/>
        </p:nvSpPr>
        <p:spPr>
          <a:xfrm>
            <a:off x="457200" y="26517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ítulo Aliados clave"/>
          <p:cNvSpPr txBox="1"/>
          <p:nvPr/>
        </p:nvSpPr>
        <p:spPr>
          <a:xfrm>
            <a:off x="64008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Aliados clave</a:t>
            </a:r>
            <a:endParaRPr lang="en-US" sz="1600" dirty="0"/>
          </a:p>
        </p:txBody>
      </p:sp>
      <p:sp>
        <p:nvSpPr>
          <p:cNvPr id="14" name="Texto Aliados clave"/>
          <p:cNvSpPr txBox="1"/>
          <p:nvPr/>
        </p:nvSpPr>
        <p:spPr>
          <a:xfrm>
            <a:off x="64008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SENA, institución educativa y propietarios de predios o constructores aliados.</a:t>
            </a:r>
            <a:endParaRPr lang="en-US" sz="1400" dirty="0"/>
          </a:p>
        </p:txBody>
      </p:sp>
      <p:sp>
        <p:nvSpPr>
          <p:cNvPr id="15" name="Tarjeta Recursos clave"/>
          <p:cNvSpPr/>
          <p:nvPr/>
        </p:nvSpPr>
        <p:spPr>
          <a:xfrm>
            <a:off x="3291840" y="26517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ítulo Recursos clave"/>
          <p:cNvSpPr txBox="1"/>
          <p:nvPr/>
        </p:nvSpPr>
        <p:spPr>
          <a:xfrm>
            <a:off x="347472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clave</a:t>
            </a:r>
            <a:endParaRPr lang="en-US" sz="1600" dirty="0"/>
          </a:p>
        </p:txBody>
      </p:sp>
      <p:sp>
        <p:nvSpPr>
          <p:cNvPr id="17" name="Texto Recursos clave"/>
          <p:cNvSpPr txBox="1"/>
          <p:nvPr/>
        </p:nvSpPr>
        <p:spPr>
          <a:xfrm>
            <a:off x="347472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Equipos de cómputo, software 3D, GitHub, Vercel y Bootstrap.</a:t>
            </a:r>
            <a:endParaRPr lang="en-US" sz="1400" dirty="0"/>
          </a:p>
        </p:txBody>
      </p:sp>
      <p:sp>
        <p:nvSpPr>
          <p:cNvPr id="18" name="Tarjeta Cómo medimos el éxito"/>
          <p:cNvSpPr/>
          <p:nvPr/>
        </p:nvSpPr>
        <p:spPr>
          <a:xfrm>
            <a:off x="6126480" y="2651760"/>
            <a:ext cx="25603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9" name="Título Cómo medimos el éxito"/>
          <p:cNvSpPr txBox="1"/>
          <p:nvPr/>
        </p:nvSpPr>
        <p:spPr>
          <a:xfrm>
            <a:off x="630936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medimos el éxito</a:t>
            </a:r>
            <a:endParaRPr lang="en-US" sz="1600" dirty="0"/>
          </a:p>
        </p:txBody>
      </p:sp>
      <p:sp>
        <p:nvSpPr>
          <p:cNvPr id="20" name="Texto Cómo medimos el éxito"/>
          <p:cNvSpPr txBox="1"/>
          <p:nvPr/>
        </p:nvSpPr>
        <p:spPr>
          <a:xfrm>
            <a:off x="6309360" y="3337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Visitas a la página, consultas por WhatsApp, visitas a propiedades y ventas.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debe hacer la página web?</a:t>
            </a:r>
            <a:endParaRPr lang="en-US" sz="2600" dirty="0"/>
          </a:p>
        </p:txBody>
      </p:sp>
      <p:graphicFrame>
        <p:nvGraphicFramePr>
          <p:cNvPr id="9" name="Tabla requerimient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852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 funcional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página debe mostrar el portafolio de casas, lotes y fincas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página debe presentar la asesoría en construcción y el diseño 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página debe incluir contacto y ubicación del negocio en Rionegro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portafolio debe poder actualizarse desde un archivo de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página debe mostrar quiénes son y qué ofrece el negocio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 funcionales"/>
          <p:cNvSpPr/>
          <p:nvPr/>
        </p:nvSpPr>
        <p:spPr>
          <a:xfrm>
            <a:off x="457200" y="35204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" name="No funcionales texto"/>
          <p:cNvSpPr txBox="1"/>
          <p:nvPr/>
        </p:nvSpPr>
        <p:spPr>
          <a:xfrm>
            <a:off x="6400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 funcionales: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diseño responsivo (Bootstrap) · carga rápida · navegación sencilla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está construido?</a:t>
            </a:r>
            <a:endParaRPr lang="en-US" sz="2600" dirty="0"/>
          </a:p>
        </p:txBody>
      </p:sp>
      <p:sp>
        <p:nvSpPr>
          <p:cNvPr id="3" name="Etapa Frontend"/>
          <p:cNvSpPr/>
          <p:nvPr/>
        </p:nvSpPr>
        <p:spPr>
          <a:xfrm>
            <a:off x="457200" y="105156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ítulo etapa Frontend"/>
          <p:cNvSpPr txBox="1"/>
          <p:nvPr/>
        </p:nvSpPr>
        <p:spPr>
          <a:xfrm>
            <a:off x="548640" y="1188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5" name="Texto etapa Frontend"/>
          <p:cNvSpPr txBox="1"/>
          <p:nvPr/>
        </p:nvSpPr>
        <p:spPr>
          <a:xfrm>
            <a:off x="594360" y="16459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HTML5, CSS3 y Bootstrap</a:t>
            </a:r>
            <a:endParaRPr lang="en-US" sz="1400" dirty="0"/>
          </a:p>
        </p:txBody>
      </p:sp>
      <p:sp>
        <p:nvSpPr>
          <p:cNvPr id="6" name="Flecha 1"/>
          <p:cNvSpPr/>
          <p:nvPr/>
        </p:nvSpPr>
        <p:spPr>
          <a:xfrm>
            <a:off x="2286000" y="162763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Etapa Lógica"/>
          <p:cNvSpPr/>
          <p:nvPr/>
        </p:nvSpPr>
        <p:spPr>
          <a:xfrm>
            <a:off x="2606040" y="105156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ítulo etapa Lógica"/>
          <p:cNvSpPr txBox="1"/>
          <p:nvPr/>
        </p:nvSpPr>
        <p:spPr>
          <a:xfrm>
            <a:off x="2697480" y="1188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</a:t>
            </a:r>
            <a:endParaRPr lang="en-US" sz="1600" dirty="0"/>
          </a:p>
        </p:txBody>
      </p:sp>
      <p:sp>
        <p:nvSpPr>
          <p:cNvPr id="9" name="Texto etapa Lógica"/>
          <p:cNvSpPr txBox="1"/>
          <p:nvPr/>
        </p:nvSpPr>
        <p:spPr>
          <a:xfrm>
            <a:off x="2743200" y="16459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0" name="Flecha 2"/>
          <p:cNvSpPr/>
          <p:nvPr/>
        </p:nvSpPr>
        <p:spPr>
          <a:xfrm>
            <a:off x="4434840" y="162763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Etapa Portafolio"/>
          <p:cNvSpPr/>
          <p:nvPr/>
        </p:nvSpPr>
        <p:spPr>
          <a:xfrm>
            <a:off x="4754880" y="105156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ítulo etapa Portafolio"/>
          <p:cNvSpPr txBox="1"/>
          <p:nvPr/>
        </p:nvSpPr>
        <p:spPr>
          <a:xfrm>
            <a:off x="4846320" y="1188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</a:t>
            </a:r>
            <a:endParaRPr lang="en-US" sz="1600" dirty="0"/>
          </a:p>
        </p:txBody>
      </p:sp>
      <p:sp>
        <p:nvSpPr>
          <p:cNvPr id="13" name="Texto etapa Portafolio"/>
          <p:cNvSpPr txBox="1"/>
          <p:nvPr/>
        </p:nvSpPr>
        <p:spPr>
          <a:xfrm>
            <a:off x="4892040" y="16459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Propiedades en Excel</a:t>
            </a:r>
            <a:endParaRPr lang="en-US" sz="1400" dirty="0"/>
          </a:p>
        </p:txBody>
      </p:sp>
      <p:sp>
        <p:nvSpPr>
          <p:cNvPr id="14" name="Flecha 3"/>
          <p:cNvSpPr/>
          <p:nvPr/>
        </p:nvSpPr>
        <p:spPr>
          <a:xfrm>
            <a:off x="6583680" y="1627632"/>
            <a:ext cx="274320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Etapa Despliegue"/>
          <p:cNvSpPr/>
          <p:nvPr/>
        </p:nvSpPr>
        <p:spPr>
          <a:xfrm>
            <a:off x="6903720" y="1051560"/>
            <a:ext cx="17830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Título etapa Despliegue"/>
          <p:cNvSpPr txBox="1"/>
          <p:nvPr/>
        </p:nvSpPr>
        <p:spPr>
          <a:xfrm>
            <a:off x="6995160" y="1188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</a:t>
            </a:r>
            <a:endParaRPr lang="en-US" sz="1600" dirty="0"/>
          </a:p>
        </p:txBody>
      </p:sp>
      <p:sp>
        <p:nvSpPr>
          <p:cNvPr id="17" name="Texto etapa Despliegue"/>
          <p:cNvSpPr txBox="1"/>
          <p:nvPr/>
        </p:nvSpPr>
        <p:spPr>
          <a:xfrm>
            <a:off x="7040880" y="16459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Vercel y GitHub</a:t>
            </a:r>
            <a:endParaRPr lang="en-US" sz="1400" dirty="0"/>
          </a:p>
        </p:txBody>
      </p:sp>
      <p:sp>
        <p:nvSpPr>
          <p:cNvPr id="18" name="Repositorio"/>
          <p:cNvSpPr/>
          <p:nvPr/>
        </p:nvSpPr>
        <p:spPr>
          <a:xfrm>
            <a:off x="457200" y="274320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9" name="Repositorio texto"/>
          <p:cNvSpPr txBox="1"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Repositorio: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proyecto en GitHub</a:t>
            </a:r>
            <a:endParaRPr lang="en-US" sz="1400" dirty="0"/>
          </a:p>
        </p:txBody>
      </p:sp>
      <p:sp>
        <p:nvSpPr>
          <p:cNvPr id="20" name="Arquitectura"/>
          <p:cNvSpPr/>
          <p:nvPr/>
        </p:nvSpPr>
        <p:spPr>
          <a:xfrm>
            <a:off x="457200" y="347472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1" name="Arquitectura texto"/>
          <p:cNvSpPr txBox="1"/>
          <p:nvPr/>
        </p:nvSpPr>
        <p:spPr>
          <a:xfrm>
            <a:off x="640080" y="3474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Arquitectura: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sitio web responsivo con HTML, CSS y JS separados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nuestra página web</a:t>
            </a:r>
            <a:endParaRPr lang="en-US" sz="2600" dirty="0"/>
          </a:p>
        </p:txBody>
      </p:sp>
      <p:sp>
        <p:nvSpPr>
          <p:cNvPr id="3" name="Marco captura 1"/>
          <p:cNvSpPr/>
          <p:nvPr/>
        </p:nvSpPr>
        <p:spPr>
          <a:xfrm>
            <a:off x="457200" y="1097280"/>
            <a:ext cx="2560320" cy="2240280"/>
          </a:xfrm>
          <a:prstGeom prst="rect">
            <a:avLst/>
          </a:prstGeom>
          <a:solidFill>
            <a:srgbClr val="0B1629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4" name="Captura Página de inicio" descr="Captura de la página: Página de inici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97280"/>
            <a:ext cx="2560320" cy="2240280"/>
          </a:xfrm>
          <a:prstGeom prst="rect">
            <a:avLst/>
          </a:prstGeom>
        </p:spPr>
      </p:pic>
      <p:sp>
        <p:nvSpPr>
          <p:cNvPr id="5" name="Pie captura 1"/>
          <p:cNvSpPr txBox="1"/>
          <p:nvPr/>
        </p:nvSpPr>
        <p:spPr>
          <a:xfrm>
            <a:off x="457200" y="3447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de inicio</a:t>
            </a:r>
            <a:endParaRPr lang="en-US" sz="1400" dirty="0"/>
          </a:p>
        </p:txBody>
      </p:sp>
      <p:sp>
        <p:nvSpPr>
          <p:cNvPr id="6" name="Marco captura 2"/>
          <p:cNvSpPr/>
          <p:nvPr/>
        </p:nvSpPr>
        <p:spPr>
          <a:xfrm>
            <a:off x="3291840" y="1097280"/>
            <a:ext cx="2560320" cy="2240280"/>
          </a:xfrm>
          <a:prstGeom prst="rect">
            <a:avLst/>
          </a:prstGeom>
          <a:solidFill>
            <a:srgbClr val="0B1629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7" name="Captura Portafolio de propiedades" descr="Captura de la página: Portafolio de propiedade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097280"/>
            <a:ext cx="2560320" cy="2240280"/>
          </a:xfrm>
          <a:prstGeom prst="rect">
            <a:avLst/>
          </a:prstGeom>
        </p:spPr>
      </p:pic>
      <p:sp>
        <p:nvSpPr>
          <p:cNvPr id="8" name="Pie captura 2"/>
          <p:cNvSpPr txBox="1"/>
          <p:nvPr/>
        </p:nvSpPr>
        <p:spPr>
          <a:xfrm>
            <a:off x="3291840" y="3447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de propiedades</a:t>
            </a:r>
            <a:endParaRPr lang="en-US" sz="1400" dirty="0"/>
          </a:p>
        </p:txBody>
      </p:sp>
      <p:sp>
        <p:nvSpPr>
          <p:cNvPr id="9" name="Marco captura 3"/>
          <p:cNvSpPr/>
          <p:nvPr/>
        </p:nvSpPr>
        <p:spPr>
          <a:xfrm>
            <a:off x="6126480" y="1097280"/>
            <a:ext cx="2560320" cy="2240280"/>
          </a:xfrm>
          <a:prstGeom prst="rect">
            <a:avLst/>
          </a:prstGeom>
          <a:solidFill>
            <a:srgbClr val="0B1629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10" name="Captura Contacto y ubicación" descr="Captura de la página: Contacto y ubicació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097280"/>
            <a:ext cx="2560320" cy="2240280"/>
          </a:xfrm>
          <a:prstGeom prst="rect">
            <a:avLst/>
          </a:prstGeom>
        </p:spPr>
      </p:pic>
      <p:sp>
        <p:nvSpPr>
          <p:cNvPr id="11" name="Pie captura 3"/>
          <p:cNvSpPr txBox="1"/>
          <p:nvPr/>
        </p:nvSpPr>
        <p:spPr>
          <a:xfrm>
            <a:off x="6126480" y="3447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y ubicación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2600" dirty="0"/>
          </a:p>
        </p:txBody>
      </p:sp>
      <p:sp>
        <p:nvSpPr>
          <p:cNvPr id="3" name="Panel demo"/>
          <p:cNvSpPr/>
          <p:nvPr/>
        </p:nvSpPr>
        <p:spPr>
          <a:xfrm>
            <a:off x="457200" y="1097280"/>
            <a:ext cx="8229600" cy="3017520"/>
          </a:xfrm>
          <a:prstGeom prst="roundRect">
            <a:avLst>
              <a:gd name="adj" fmla="val 454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ítulo demo"/>
          <p:cNvSpPr txBox="1"/>
          <p:nvPr/>
        </p:nvSpPr>
        <p:spPr>
          <a:xfrm>
            <a:off x="822960" y="1737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en vivo</a:t>
            </a:r>
            <a:endParaRPr lang="en-US" sz="3600" dirty="0"/>
          </a:p>
        </p:txBody>
      </p:sp>
      <p:sp>
        <p:nvSpPr>
          <p:cNvPr id="5" name="Enlace demo"/>
          <p:cNvSpPr txBox="1"/>
          <p:nvPr/>
        </p:nvSpPr>
        <p:spPr>
          <a:xfrm>
            <a:off x="82296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Visite la página: [enlace de Vercel]</a:t>
            </a:r>
            <a:endParaRPr lang="en-US" sz="1600" dirty="0"/>
          </a:p>
        </p:txBody>
      </p:sp>
      <p:sp>
        <p:nvSpPr>
          <p:cNvPr id="6" name="Marco QR"/>
          <p:cNvSpPr/>
          <p:nvPr/>
        </p:nvSpPr>
        <p:spPr>
          <a:xfrm>
            <a:off x="6126480" y="137160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Etiqueta QR"/>
          <p:cNvSpPr txBox="1"/>
          <p:nvPr/>
        </p:nvSpPr>
        <p:spPr>
          <a:xfrm>
            <a:off x="6126480" y="137160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Código QR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cambia gracias al proyecto?</a:t>
            </a:r>
            <a:endParaRPr lang="en-US" sz="2600" dirty="0"/>
          </a:p>
        </p:txBody>
      </p:sp>
      <p:sp>
        <p:nvSpPr>
          <p:cNvPr id="3" name="Tarjeta Social"/>
          <p:cNvSpPr/>
          <p:nvPr/>
        </p:nvSpPr>
        <p:spPr>
          <a:xfrm>
            <a:off x="457200" y="1051560"/>
            <a:ext cx="256032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ítulo Social"/>
          <p:cNvSpPr txBox="1"/>
          <p:nvPr/>
        </p:nvSpPr>
        <p:spPr>
          <a:xfrm>
            <a:off x="640080" y="1161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600" dirty="0"/>
          </a:p>
        </p:txBody>
      </p:sp>
      <p:sp>
        <p:nvSpPr>
          <p:cNvPr id="5" name="Texto Social"/>
          <p:cNvSpPr txBox="1"/>
          <p:nvPr/>
        </p:nvSpPr>
        <p:spPr>
          <a:xfrm>
            <a:off x="64008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Los clientes encuentran información clara y pueden visualizar su proyecto desde el celular.</a:t>
            </a:r>
            <a:endParaRPr lang="en-US" sz="1400" dirty="0"/>
          </a:p>
        </p:txBody>
      </p:sp>
      <p:sp>
        <p:nvSpPr>
          <p:cNvPr id="6" name="Tarjeta Económico"/>
          <p:cNvSpPr/>
          <p:nvPr/>
        </p:nvSpPr>
        <p:spPr>
          <a:xfrm>
            <a:off x="3291840" y="1051560"/>
            <a:ext cx="256032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ítulo Económico"/>
          <p:cNvSpPr txBox="1"/>
          <p:nvPr/>
        </p:nvSpPr>
        <p:spPr>
          <a:xfrm>
            <a:off x="3474720" y="1161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Económico</a:t>
            </a:r>
            <a:endParaRPr lang="en-US" sz="1600" dirty="0"/>
          </a:p>
        </p:txBody>
      </p:sp>
      <p:sp>
        <p:nvSpPr>
          <p:cNvPr id="8" name="Texto Económico"/>
          <p:cNvSpPr txBox="1"/>
          <p:nvPr/>
        </p:nvSpPr>
        <p:spPr>
          <a:xfrm>
            <a:off x="347472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Más visibilidad y posibles nuevas ventas; menos tiempo atendiendo consultas repetidas.</a:t>
            </a:r>
            <a:endParaRPr lang="en-US" sz="1400" dirty="0"/>
          </a:p>
        </p:txBody>
      </p:sp>
      <p:sp>
        <p:nvSpPr>
          <p:cNvPr id="9" name="Tarjeta Ambiental"/>
          <p:cNvSpPr/>
          <p:nvPr/>
        </p:nvSpPr>
        <p:spPr>
          <a:xfrm>
            <a:off x="6126480" y="1051560"/>
            <a:ext cx="256032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ítulo Ambiental"/>
          <p:cNvSpPr txBox="1"/>
          <p:nvPr/>
        </p:nvSpPr>
        <p:spPr>
          <a:xfrm>
            <a:off x="6309360" y="11612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Ambiental</a:t>
            </a:r>
            <a:endParaRPr lang="en-US" sz="1600" dirty="0"/>
          </a:p>
        </p:txBody>
      </p:sp>
      <p:sp>
        <p:nvSpPr>
          <p:cNvPr id="11" name="Texto Ambiental"/>
          <p:cNvSpPr txBox="1"/>
          <p:nvPr/>
        </p:nvSpPr>
        <p:spPr>
          <a:xfrm>
            <a:off x="6309360" y="17373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Menos catálogos impresos y menos desplazamientos innecesarios a los predios gracias al 3D.</a:t>
            </a:r>
            <a:endParaRPr lang="en-US" sz="1400" dirty="0"/>
          </a:p>
        </p:txBody>
      </p:sp>
      <p:sp>
        <p:nvSpPr>
          <p:cNvPr id="12" name="ODS"/>
          <p:cNvSpPr/>
          <p:nvPr/>
        </p:nvSpPr>
        <p:spPr>
          <a:xfrm>
            <a:off x="457200" y="3520440"/>
            <a:ext cx="8229600" cy="640080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ODS texto"/>
          <p:cNvSpPr txBox="1"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ODS relacionado: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ODS 8 · Trabajo decente y crecimiento económico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y avance</a:t>
            </a:r>
            <a:endParaRPr lang="en-US" sz="2600" dirty="0"/>
          </a:p>
        </p:txBody>
      </p:sp>
      <p:graphicFrame>
        <p:nvGraphicFramePr>
          <p:cNvPr id="14" name="Tabla cronogram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14630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Actividades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3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Requerimientos del negocio y contenidos de la página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Estructura, colores y maquetación de secciones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JS y Bootstrap; portafolio en Excel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Revisión en celular, tableta y computador; corrección de errores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Oct–Nov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Despliegue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Publicación en Vercel y socialización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Logros, aprendizajes y próximos pasos</a:t>
            </a:r>
            <a:endParaRPr lang="en-US" sz="2600" dirty="0"/>
          </a:p>
        </p:txBody>
      </p:sp>
      <p:sp>
        <p:nvSpPr>
          <p:cNvPr id="3" name="Tarjeta Lo que logramos"/>
          <p:cNvSpPr/>
          <p:nvPr/>
        </p:nvSpPr>
        <p:spPr>
          <a:xfrm>
            <a:off x="457200" y="105156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Título Lo que logramos"/>
          <p:cNvSpPr txBox="1"/>
          <p:nvPr/>
        </p:nvSpPr>
        <p:spPr>
          <a:xfrm>
            <a:off x="6400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logramos</a:t>
            </a:r>
            <a:endParaRPr lang="en-US" sz="1600" dirty="0"/>
          </a:p>
        </p:txBody>
      </p:sp>
      <p:sp>
        <p:nvSpPr>
          <p:cNvPr id="5" name="Lista Lo que logramos"/>
          <p:cNvSpPr txBox="1"/>
          <p:nvPr/>
        </p:nvSpPr>
        <p:spPr>
          <a:xfrm>
            <a:off x="640080" y="16916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Página web de TERRA PSCJ diseñada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Código organizado en HTML, CSS y JS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Portafolio actualizable desde Excel</a:t>
            </a:r>
            <a:endParaRPr lang="en-US" sz="1400" dirty="0"/>
          </a:p>
        </p:txBody>
      </p:sp>
      <p:sp>
        <p:nvSpPr>
          <p:cNvPr id="6" name="Tarjeta Lo que aprendimos"/>
          <p:cNvSpPr/>
          <p:nvPr/>
        </p:nvSpPr>
        <p:spPr>
          <a:xfrm>
            <a:off x="3291840" y="105156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ítulo Lo que aprendimos"/>
          <p:cNvSpPr txBox="1"/>
          <p:nvPr/>
        </p:nvSpPr>
        <p:spPr>
          <a:xfrm>
            <a:off x="347472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aprendimos</a:t>
            </a:r>
            <a:endParaRPr lang="en-US" sz="1600" dirty="0"/>
          </a:p>
        </p:txBody>
      </p:sp>
      <p:sp>
        <p:nvSpPr>
          <p:cNvPr id="8" name="Lista Lo que aprendimos"/>
          <p:cNvSpPr txBox="1"/>
          <p:nvPr/>
        </p:nvSpPr>
        <p:spPr>
          <a:xfrm>
            <a:off x="3474720" y="16916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Diseño web responsivo con Bootstrap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Organización por bitácoras y trabajo en equipo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Despliegue en Vercel y control con GitHub</a:t>
            </a:r>
            <a:endParaRPr lang="en-US" sz="1400" dirty="0"/>
          </a:p>
        </p:txBody>
      </p:sp>
      <p:sp>
        <p:nvSpPr>
          <p:cNvPr id="9" name="Tarjeta Próximos pasos"/>
          <p:cNvSpPr/>
          <p:nvPr/>
        </p:nvSpPr>
        <p:spPr>
          <a:xfrm>
            <a:off x="6126480" y="1051560"/>
            <a:ext cx="2560320" cy="301752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ítulo Próximos pasos"/>
          <p:cNvSpPr txBox="1"/>
          <p:nvPr/>
        </p:nvSpPr>
        <p:spPr>
          <a:xfrm>
            <a:off x="630936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11" name="Lista Próximos pasos"/>
          <p:cNvSpPr txBox="1"/>
          <p:nvPr/>
        </p:nvSpPr>
        <p:spPr>
          <a:xfrm>
            <a:off x="6309360" y="16916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Publicar la versión final en Vercel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Ampliar el portafolio de propiedades y las secciones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Difundirla en redes y con código QR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3" type="title" hasCustomPrompt="1"/>
          </p:nvPr>
        </p:nvSpPr>
        <p:spPr>
          <a:xfrm>
            <a:off x="960120" y="1645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2600" dirty="0"/>
          </a:p>
        </p:txBody>
      </p:sp>
      <p:sp>
        <p:nvSpPr>
          <p:cNvPr id="3" name="Preguntas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3600" dirty="0"/>
          </a:p>
        </p:txBody>
      </p:sp>
      <p:sp>
        <p:nvSpPr>
          <p:cNvPr id="4" name="Contacto marco"/>
          <p:cNvSpPr/>
          <p:nvPr/>
        </p:nvSpPr>
        <p:spPr>
          <a:xfrm>
            <a:off x="1554480" y="2468880"/>
            <a:ext cx="6035040" cy="731520"/>
          </a:xfrm>
          <a:prstGeom prst="roundRect">
            <a:avLst>
              <a:gd name="adj" fmla="val 25000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Contacto texto"/>
          <p:cNvSpPr txBox="1"/>
          <p:nvPr/>
        </p:nvSpPr>
        <p:spPr>
          <a:xfrm>
            <a:off x="1554480" y="24688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WhatsApp: 313 449 98 16 · Rionegro, Antioquia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Instagram · Facebook · TikTok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 PSCJ">
  <a:themeElements>
    <a:clrScheme name="Terra PSCJ">
      <a:dk1>
        <a:srgbClr val="1A1A1A"/>
      </a:dk1>
      <a:lt1>
        <a:srgbClr val="FFFFFF"/>
      </a:lt1>
      <a:dk2>
        <a:srgbClr val="11234F"/>
      </a:dk2>
      <a:lt2>
        <a:srgbClr val="F2F5FA"/>
      </a:lt2>
      <a:accent1>
        <a:srgbClr val="39A900"/>
      </a:accent1>
      <a:accent2>
        <a:srgbClr val="1F4E8C"/>
      </a:accent2>
      <a:accent3>
        <a:srgbClr val="E8F4E0"/>
      </a:accent3>
      <a:accent4>
        <a:srgbClr val="5B6B80"/>
      </a:accent4>
      <a:accent5>
        <a:srgbClr val="C9D3E3"/>
      </a:accent5>
      <a:accent6>
        <a:srgbClr val="7BC043"/>
      </a:accent6>
      <a:hlink>
        <a:srgbClr val="1F4E8C"/>
      </a:hlink>
      <a:folHlink>
        <a:srgbClr val="5B6B80"/>
      </a:folHlink>
    </a:clrScheme>
    <a:fontScheme name="Terra PSCJ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Productivo TERRA PSCJ</dc:title>
  <dc:subject>PptxGenJS Presentation</dc:subject>
  <dc:creator>Equipo Terra PSCJ</dc:creator>
  <cp:lastModifiedBy>Equipo Terra PSCJ</cp:lastModifiedBy>
  <cp:revision>1</cp:revision>
  <dcterms:created xsi:type="dcterms:W3CDTF">2026-10-14T20:52:50Z</dcterms:created>
  <dcterms:modified xsi:type="dcterms:W3CDTF">2026-10-14T20:52:50Z</dcterms:modified>
</cp:coreProperties>
</file>